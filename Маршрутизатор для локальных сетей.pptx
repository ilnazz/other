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7" r:id="rId3"/>
    <p:sldId id="257" r:id="rId4"/>
    <p:sldId id="268" r:id="rId5"/>
    <p:sldId id="269" r:id="rId6"/>
    <p:sldId id="260" r:id="rId7"/>
    <p:sldId id="270" r:id="rId8"/>
    <p:sldId id="271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52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4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737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1033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584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899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46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766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10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23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13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D7E9006-51C8-43F8-B707-A66E2DDE7C85}" type="datetimeFigureOut">
              <a:rPr lang="ru-RU" smtClean="0"/>
              <a:t>01.04.2022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605AD86-9F7D-488A-9031-F7C4B8974C62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82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isco.su/c1117-4pwe" TargetMode="External"/><Relationship Id="rId2" Type="http://schemas.openxmlformats.org/officeDocument/2006/relationships/hyperlink" Target="http://celnet.ru/router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obbyits.com/naznachenie-i-funkcii-marshrutizatora-v-lokalnoj-seti" TargetMode="External"/><Relationship Id="rId5" Type="http://schemas.openxmlformats.org/officeDocument/2006/relationships/hyperlink" Target="https://zvondozvon.ru/tehnologii/kompyuternye-seti/marshrutizatsiya" TargetMode="External"/><Relationship Id="rId4" Type="http://schemas.openxmlformats.org/officeDocument/2006/relationships/hyperlink" Target="https://ru.wikipedia.org/wiki/&#1058;&#1072;&#1073;&#1083;&#1080;&#1094;&#1072;_&#1084;&#1072;&#1088;&#1096;&#1088;&#1091;&#1090;&#1080;&#1079;&#1072;&#1094;&#1080;&#1080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2D9D1D-FE11-43CD-9EA0-EE278F588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Маршрутизатор для локальных сетей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F09597E-DDCA-4FE1-B68A-AE21318B4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dirty="0"/>
              <a:t>Подготовили студенты</a:t>
            </a:r>
          </a:p>
          <a:p>
            <a:pPr algn="r"/>
            <a:r>
              <a:rPr lang="ru-RU" dirty="0"/>
              <a:t>группы 223</a:t>
            </a:r>
          </a:p>
          <a:p>
            <a:pPr algn="r"/>
            <a:r>
              <a:rPr lang="ru-RU" dirty="0"/>
              <a:t>Хасанов Ильназ</a:t>
            </a:r>
          </a:p>
          <a:p>
            <a:pPr algn="r"/>
            <a:r>
              <a:rPr lang="ru-RU" dirty="0"/>
              <a:t>Мустафин Илья</a:t>
            </a:r>
          </a:p>
        </p:txBody>
      </p:sp>
    </p:spTree>
    <p:extLst>
      <p:ext uri="{BB962C8B-B14F-4D97-AF65-F5344CB8AC3E}">
        <p14:creationId xmlns:p14="http://schemas.microsoft.com/office/powerpoint/2010/main" val="2568889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45DA52-47FA-44F6-A4B1-2832CAFBE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4D370D-135F-4060-ACB3-B60716F66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0916" lvl="1" indent="-342900">
              <a:buFont typeface="+mj-lt"/>
              <a:buAutoNum type="arabicPeriod"/>
            </a:pPr>
            <a:r>
              <a:rPr lang="ru-RU" dirty="0"/>
              <a:t>Определение, назначение и функции;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Внутреннее устройство;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Таблица маршрутизации;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Принцип работы;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Локальная сеть с маршрутизатором;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Классы маршрутизаторов;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Характеристики маршрутизатора;</a:t>
            </a:r>
          </a:p>
          <a:p>
            <a:pPr marL="470916" lvl="1" indent="-342900">
              <a:buFont typeface="+mj-lt"/>
              <a:buAutoNum type="arabicPeriod"/>
            </a:pPr>
            <a:r>
              <a:rPr lang="ru-RU" dirty="0"/>
              <a:t>Список использованных источников.</a:t>
            </a:r>
          </a:p>
          <a:p>
            <a:pPr marL="470916" lvl="1" indent="-342900">
              <a:buFont typeface="+mj-lt"/>
              <a:buAutoNum type="arabicPeriod"/>
            </a:pPr>
            <a:endParaRPr lang="ru-RU" dirty="0"/>
          </a:p>
          <a:p>
            <a:pPr marL="470916" lvl="1" indent="-342900">
              <a:buFont typeface="+mj-lt"/>
              <a:buAutoNum type="arabicPeriod"/>
            </a:pPr>
            <a:endParaRPr lang="ru-RU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8D9025E-7232-464E-A7FA-E2E39D173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04" y="438098"/>
            <a:ext cx="3973195" cy="397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Маршрутизатор Cisco C927, WAN 1X1 ГБ/С, ADSL2/VDSL2+: 1X VA-DSL (Annex M), 1XLTE, LAN 4X 1 ГБ/С, USB 2.0 C927-4PMLTEGB">
            <a:extLst>
              <a:ext uri="{FF2B5EF4-FFF2-40B4-BE49-F238E27FC236}">
                <a16:creationId xmlns:a16="http://schemas.microsoft.com/office/drawing/2014/main" id="{E2352606-C5C1-4725-96EB-5FA7B91751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4" t="36066" r="11471" b="34236"/>
          <a:stretch/>
        </p:blipFill>
        <p:spPr bwMode="auto">
          <a:xfrm>
            <a:off x="6771005" y="4980788"/>
            <a:ext cx="3973195" cy="1236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841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7B0264-23DD-42A7-889B-E699D20BF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Определение, назначение и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4E5150-0E30-40E8-8951-39663EDA0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1143000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Маршрутизатор</a:t>
            </a:r>
            <a:r>
              <a:rPr lang="ru-RU" dirty="0"/>
              <a:t> или </a:t>
            </a:r>
            <a:r>
              <a:rPr lang="ru-RU" b="1" dirty="0"/>
              <a:t>роутер</a:t>
            </a:r>
            <a:r>
              <a:rPr lang="ru-RU" dirty="0"/>
              <a:t>, (от англ. </a:t>
            </a:r>
            <a:r>
              <a:rPr lang="en-US" dirty="0"/>
              <a:t>R</a:t>
            </a:r>
            <a:r>
              <a:rPr lang="ru-RU" dirty="0" err="1"/>
              <a:t>outer</a:t>
            </a:r>
            <a:r>
              <a:rPr lang="ru-RU" dirty="0"/>
              <a:t> - сетевое устройство) пересылающее пакеты данных сетевого уровня (уровень 3 модели OSI) основываясь на информации о топологии сети и ее определённых правил, между разделенными, разными сегментами сети.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BF3E3A4-6453-43D1-8014-00AE4327ADAC}"/>
              </a:ext>
            </a:extLst>
          </p:cNvPr>
          <p:cNvSpPr txBox="1">
            <a:spLocks/>
          </p:cNvSpPr>
          <p:nvPr/>
        </p:nvSpPr>
        <p:spPr>
          <a:xfrm>
            <a:off x="1024127" y="3630168"/>
            <a:ext cx="4754880" cy="220113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Назначение:</a:t>
            </a:r>
          </a:p>
          <a:p>
            <a:r>
              <a:rPr lang="ru-RU" dirty="0"/>
              <a:t>1. Уменьшение загрузки сети;</a:t>
            </a:r>
          </a:p>
          <a:p>
            <a:r>
              <a:rPr lang="ru-RU" dirty="0"/>
              <a:t>2. Объединение сетей разных типов;</a:t>
            </a:r>
          </a:p>
          <a:p>
            <a:r>
              <a:rPr lang="ru-RU" dirty="0"/>
              <a:t>3. Обеспечения доступа из локальной сети в глобальную сеть Интернет.</a:t>
            </a:r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E4140789-9401-483D-84F5-A5C73F5BDC07}"/>
              </a:ext>
            </a:extLst>
          </p:cNvPr>
          <p:cNvSpPr txBox="1">
            <a:spLocks/>
          </p:cNvSpPr>
          <p:nvPr/>
        </p:nvSpPr>
        <p:spPr>
          <a:xfrm>
            <a:off x="5989320" y="3630168"/>
            <a:ext cx="4754880" cy="2201137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1" dirty="0"/>
              <a:t>Функции:</a:t>
            </a:r>
          </a:p>
          <a:p>
            <a:r>
              <a:rPr lang="ru-RU" dirty="0"/>
              <a:t>1. Переключение трафика;</a:t>
            </a:r>
          </a:p>
          <a:p>
            <a:r>
              <a:rPr lang="ru-RU" dirty="0"/>
              <a:t>2. Обслуживание среды, в которой он работает.</a:t>
            </a:r>
          </a:p>
        </p:txBody>
      </p:sp>
    </p:spTree>
    <p:extLst>
      <p:ext uri="{BB962C8B-B14F-4D97-AF65-F5344CB8AC3E}">
        <p14:creationId xmlns:p14="http://schemas.microsoft.com/office/powerpoint/2010/main" val="367900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155B0-04FB-41E1-85BE-2E1B42F64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внутри маршрутизатора?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A356D7-8C01-4A19-98E0-3CD20F49E8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1. Процессор (CPU);</a:t>
            </a:r>
          </a:p>
          <a:p>
            <a:r>
              <a:rPr lang="ru-RU" dirty="0"/>
              <a:t>2. Микросхема сетевого коммутатора (свитча);</a:t>
            </a:r>
          </a:p>
          <a:p>
            <a:r>
              <a:rPr lang="ru-RU" dirty="0"/>
              <a:t>3. Оперативная память (RAM);</a:t>
            </a:r>
          </a:p>
          <a:p>
            <a:r>
              <a:rPr lang="ru-RU" dirty="0"/>
              <a:t>4. Постоянная память (ROM);</a:t>
            </a:r>
          </a:p>
          <a:p>
            <a:r>
              <a:rPr lang="ru-RU" dirty="0"/>
              <a:t>5. Чип беспроводного модуля (</a:t>
            </a:r>
            <a:r>
              <a:rPr lang="ru-RU" dirty="0" err="1"/>
              <a:t>Wi</a:t>
            </a:r>
            <a:r>
              <a:rPr lang="ru-RU" dirty="0"/>
              <a:t>-Fi);</a:t>
            </a:r>
          </a:p>
          <a:p>
            <a:r>
              <a:rPr lang="ru-RU" dirty="0"/>
              <a:t>а также контроллер ввода-вывода, загруженное в память программное обеспечение.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767781B-CA31-4FB6-A569-72E6FAF302C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print"/>
          <a:srcRect l="7089" t="3789" r="1927" b="3219"/>
          <a:stretch/>
        </p:blipFill>
        <p:spPr bwMode="auto">
          <a:xfrm>
            <a:off x="6096000" y="2084832"/>
            <a:ext cx="5504685" cy="37414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10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0BB7B-771C-4BCB-8A33-18ED0245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маршрутизации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7879D6-BD8E-4075-87DB-4EF3FCB2F5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1. </a:t>
            </a:r>
            <a:r>
              <a:rPr lang="ru-RU" b="1" dirty="0"/>
              <a:t>Адрес</a:t>
            </a:r>
            <a:r>
              <a:rPr lang="ru-RU" dirty="0"/>
              <a:t> и </a:t>
            </a:r>
            <a:r>
              <a:rPr lang="ru-RU" b="1" dirty="0"/>
              <a:t>маска сети </a:t>
            </a:r>
            <a:r>
              <a:rPr lang="ru-RU" dirty="0"/>
              <a:t>– сеть назначения;</a:t>
            </a:r>
          </a:p>
          <a:p>
            <a:r>
              <a:rPr lang="ru-RU" dirty="0"/>
              <a:t>2. Адрес </a:t>
            </a:r>
            <a:r>
              <a:rPr lang="ru-RU" b="1" dirty="0"/>
              <a:t>шлюза - </a:t>
            </a:r>
            <a:r>
              <a:rPr lang="ru-RU" dirty="0"/>
              <a:t>адрес маршрутизатора в сети, на который необходимо отправить пакет, следующий до указанного адреса назначения;</a:t>
            </a:r>
          </a:p>
          <a:p>
            <a:r>
              <a:rPr lang="ru-RU" dirty="0"/>
              <a:t>3. </a:t>
            </a:r>
            <a:r>
              <a:rPr lang="ru-RU" b="1" dirty="0"/>
              <a:t>Интерфейс</a:t>
            </a:r>
            <a:r>
              <a:rPr lang="ru-RU" dirty="0"/>
              <a:t>, через который доступен шлюз;</a:t>
            </a:r>
          </a:p>
          <a:p>
            <a:r>
              <a:rPr lang="ru-RU" dirty="0"/>
              <a:t>4. </a:t>
            </a:r>
            <a:r>
              <a:rPr lang="ru-RU" b="1" dirty="0"/>
              <a:t>Метрика</a:t>
            </a:r>
            <a:r>
              <a:rPr lang="ru-RU" dirty="0"/>
              <a:t> - числовой показатель, задающий предпочтительность маршрута. Чем меньше число, тем более предпочтителен маршрут.</a:t>
            </a:r>
          </a:p>
        </p:txBody>
      </p:sp>
      <p:pic>
        <p:nvPicPr>
          <p:cNvPr id="5" name="Picture 2" descr="Электронная база данных в маршрутизаторе (router)">
            <a:extLst>
              <a:ext uri="{FF2B5EF4-FFF2-40B4-BE49-F238E27FC236}">
                <a16:creationId xmlns:a16="http://schemas.microsoft.com/office/drawing/2014/main" id="{315E4342-83D3-4436-84D4-2FBE46915D7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38" y="2286000"/>
            <a:ext cx="4754562" cy="361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377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7D94B-41F5-478B-AD99-2F3E0684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ru-RU" dirty="0"/>
              <a:t>Принцип работы</a:t>
            </a:r>
          </a:p>
        </p:txBody>
      </p:sp>
      <p:pic>
        <p:nvPicPr>
          <p:cNvPr id="1026" name="Picture 2" descr="Маршрутизатор (router)">
            <a:extLst>
              <a:ext uri="{FF2B5EF4-FFF2-40B4-BE49-F238E27FC236}">
                <a16:creationId xmlns:a16="http://schemas.microsoft.com/office/drawing/2014/main" id="{F7C414B1-C7C4-427C-9E65-7F353BFD6CA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2580966"/>
            <a:ext cx="4754562" cy="343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862235F9-5011-4604-B1B8-82AA16247F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Маршрутизатор получает пакет;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Определяется сеть его назначения;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Исходя из сети назначения, выбирается адрес шлюза;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По адресу шлюза определяется интерфейс, на который можно передать пакет;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Предпочтение отдается маршруту с меньшей метрикой.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Если в таблице маршрутизации нет соответствующего адреса назначения, пакет игнорируется.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314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7C5DC-FD75-4128-9538-0244C5D8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109093" cy="1499616"/>
          </a:xfrm>
        </p:spPr>
        <p:txBody>
          <a:bodyPr/>
          <a:lstStyle/>
          <a:p>
            <a:r>
              <a:rPr lang="ru-RU" dirty="0"/>
              <a:t>Локальная сеть с маршрутизатором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546AC-B22E-4D13-A2EC-9EB48AD1169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6" b="2810"/>
          <a:stretch/>
        </p:blipFill>
        <p:spPr bwMode="auto">
          <a:xfrm>
            <a:off x="4391327" y="1719184"/>
            <a:ext cx="3409346" cy="501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87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57D12-8B3C-4CB3-BC93-5D3DEBCD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маршрутизаторов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F9CBE-0979-4110-9C5E-B4DB176A29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Верхнего класса:</a:t>
            </a:r>
          </a:p>
          <a:p>
            <a:pPr lvl="1"/>
            <a:r>
              <a:rPr lang="ru-RU" sz="1900" dirty="0"/>
              <a:t>объединение сетей предприятия;</a:t>
            </a:r>
          </a:p>
          <a:p>
            <a:pPr lvl="1"/>
            <a:r>
              <a:rPr lang="ru-RU" sz="1900" dirty="0"/>
              <a:t>поддержка множества протоколов и интерфейсов;</a:t>
            </a:r>
          </a:p>
          <a:p>
            <a:pPr lvl="1"/>
            <a:r>
              <a:rPr lang="ru-RU" sz="1900" dirty="0"/>
              <a:t>до 50 портов локальных или глобальных сетей.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Среднего класса:</a:t>
            </a:r>
          </a:p>
          <a:p>
            <a:pPr lvl="1"/>
            <a:r>
              <a:rPr lang="ru-RU" sz="1900" dirty="0"/>
              <a:t>создание менее крупных сетевых объединений масштаба предприятия;</a:t>
            </a:r>
          </a:p>
          <a:p>
            <a:pPr lvl="1"/>
            <a:r>
              <a:rPr lang="ru-RU" sz="1900" dirty="0"/>
              <a:t>два-три порта локальных сетей и от четырех до восьми портов глобальных сети;</a:t>
            </a:r>
          </a:p>
          <a:p>
            <a:pPr lvl="1"/>
            <a:r>
              <a:rPr lang="ru-RU" sz="1900" dirty="0"/>
              <a:t>поддержка наиболее распространенных протоколов маршрутизации и транспортные протоколов.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 Нижнего класса:</a:t>
            </a:r>
          </a:p>
          <a:p>
            <a:pPr lvl="1"/>
            <a:r>
              <a:rPr lang="ru-RU" sz="1900" dirty="0"/>
              <a:t>предназначаются для локальных сетей подразделений;</a:t>
            </a:r>
          </a:p>
          <a:p>
            <a:pPr lvl="1"/>
            <a:r>
              <a:rPr lang="ru-RU" sz="1900" dirty="0"/>
              <a:t>связывают небольшие офисы с сетью предприятия;</a:t>
            </a:r>
          </a:p>
          <a:p>
            <a:pPr lvl="1"/>
            <a:r>
              <a:rPr lang="ru-RU" sz="1900" dirty="0"/>
              <a:t>один порт локальной сети (Ethernet или </a:t>
            </a:r>
            <a:r>
              <a:rPr lang="ru-RU" sz="1900" dirty="0" err="1"/>
              <a:t>Token</a:t>
            </a:r>
            <a:r>
              <a:rPr lang="ru-RU" sz="1900" dirty="0"/>
              <a:t> Ring) и два порта глобальной сети.</a:t>
            </a:r>
          </a:p>
          <a:p>
            <a:endParaRPr lang="ru-RU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B51F251-DD99-4E9A-B675-4A32D0378A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30" b="31324"/>
          <a:stretch/>
        </p:blipFill>
        <p:spPr bwMode="auto">
          <a:xfrm>
            <a:off x="6477808" y="3815792"/>
            <a:ext cx="3102837" cy="115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SR 900 Series Integrated Services Routers​">
            <a:extLst>
              <a:ext uri="{FF2B5EF4-FFF2-40B4-BE49-F238E27FC236}">
                <a16:creationId xmlns:a16="http://schemas.microsoft.com/office/drawing/2014/main" id="{BDAEB77F-AD6F-4456-9F4F-557BE0767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8" t="33659" r="12974" b="30852"/>
          <a:stretch/>
        </p:blipFill>
        <p:spPr bwMode="auto">
          <a:xfrm>
            <a:off x="6477808" y="5389489"/>
            <a:ext cx="3101572" cy="100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isco Network Convergence System (NCS) 540 Series">
            <a:extLst>
              <a:ext uri="{FF2B5EF4-FFF2-40B4-BE49-F238E27FC236}">
                <a16:creationId xmlns:a16="http://schemas.microsoft.com/office/drawing/2014/main" id="{10134EC0-B104-4B00-90AA-9D16183BF5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0" t="32503" b="30819"/>
          <a:stretch/>
        </p:blipFill>
        <p:spPr bwMode="auto">
          <a:xfrm>
            <a:off x="5884164" y="2304558"/>
            <a:ext cx="5181600" cy="109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511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E85CD-FCED-424A-96E7-3A9D10C15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Характеристики маршрутизатора среднего класса «C</a:t>
            </a:r>
            <a:r>
              <a:rPr lang="en-US" sz="3200" dirty="0" err="1"/>
              <a:t>isco</a:t>
            </a:r>
            <a:r>
              <a:rPr lang="ru-RU" sz="3200" dirty="0"/>
              <a:t> </a:t>
            </a:r>
            <a:r>
              <a:rPr lang="en-US" sz="3200" dirty="0"/>
              <a:t>ISR </a:t>
            </a:r>
            <a:r>
              <a:rPr lang="ru-RU"/>
              <a:t>1100»</a:t>
            </a:r>
            <a:endParaRPr lang="ru-RU" dirty="0"/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5FA8EB81-0ADC-40B5-9DFB-3F1B701919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56240801"/>
              </p:ext>
            </p:extLst>
          </p:nvPr>
        </p:nvGraphicFramePr>
        <p:xfrm>
          <a:off x="1024128" y="2115672"/>
          <a:ext cx="4117558" cy="3807072"/>
        </p:xfrm>
        <a:graphic>
          <a:graphicData uri="http://schemas.openxmlformats.org/drawingml/2006/table">
            <a:tbl>
              <a:tblPr/>
              <a:tblGrid>
                <a:gridCol w="2058779">
                  <a:extLst>
                    <a:ext uri="{9D8B030D-6E8A-4147-A177-3AD203B41FA5}">
                      <a16:colId xmlns:a16="http://schemas.microsoft.com/office/drawing/2014/main" val="489738105"/>
                    </a:ext>
                  </a:extLst>
                </a:gridCol>
                <a:gridCol w="2058779">
                  <a:extLst>
                    <a:ext uri="{9D8B030D-6E8A-4147-A177-3AD203B41FA5}">
                      <a16:colId xmlns:a16="http://schemas.microsoft.com/office/drawing/2014/main" val="162306685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Универсальные порты </a:t>
                      </a:r>
                      <a:r>
                        <a:rPr lang="en-US" sz="1400" dirty="0">
                          <a:effectLst/>
                        </a:rPr>
                        <a:t>Ethernet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1 х </a:t>
                      </a:r>
                      <a:r>
                        <a:rPr lang="en-US" sz="1400" dirty="0">
                          <a:effectLst/>
                        </a:rPr>
                        <a:t>SFP combo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28255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WAN </a:t>
                      </a:r>
                      <a:r>
                        <a:rPr lang="ru-RU" sz="1400">
                          <a:effectLst/>
                        </a:rPr>
                        <a:t>порты </a:t>
                      </a:r>
                      <a:r>
                        <a:rPr lang="en-US" sz="1400">
                          <a:effectLst/>
                        </a:rPr>
                        <a:t>Ethernet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 x ADSL2/VDSL2+ (Annex A)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55447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LAN </a:t>
                      </a:r>
                      <a:r>
                        <a:rPr lang="ru-RU" sz="1400">
                          <a:effectLst/>
                        </a:rPr>
                        <a:t>порты </a:t>
                      </a:r>
                      <a:r>
                        <a:rPr lang="en-US" sz="1400">
                          <a:effectLst/>
                        </a:rPr>
                        <a:t>Ethernet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4 x GE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8748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Память </a:t>
                      </a:r>
                      <a:r>
                        <a:rPr lang="en-US" sz="1400">
                          <a:effectLst/>
                        </a:rPr>
                        <a:t>FLASH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4 Гб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12326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Объем ОЗУ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4 Гб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125937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Порты консольные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RJ-45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87529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Порты </a:t>
                      </a:r>
                      <a:r>
                        <a:rPr lang="en-US" sz="1400">
                          <a:effectLst/>
                        </a:rPr>
                        <a:t>USB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1 x USB 3.0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277946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Беспроводные сети </a:t>
                      </a:r>
                      <a:r>
                        <a:rPr lang="en-US" sz="1400">
                          <a:effectLst/>
                        </a:rPr>
                        <a:t>VLAN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32 (зашифрованные и незашифрованные VLAN)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4412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Протоколы </a:t>
                      </a:r>
                      <a:r>
                        <a:rPr lang="en-US" sz="1400">
                          <a:effectLst/>
                        </a:rPr>
                        <a:t>WIFI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802.11a/b/g/n/ac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33673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Технология </a:t>
                      </a:r>
                      <a:r>
                        <a:rPr lang="en-US" sz="1400">
                          <a:effectLst/>
                        </a:rPr>
                        <a:t>MIMO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2x2 MIMO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08857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Антенны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2 внешних 2.4 </a:t>
                      </a:r>
                      <a:r>
                        <a:rPr lang="ru-RU" sz="1400" dirty="0" err="1">
                          <a:effectLst/>
                        </a:rPr>
                        <a:t>GHz</a:t>
                      </a:r>
                      <a:r>
                        <a:rPr lang="ru-RU" sz="1400" dirty="0">
                          <a:effectLst/>
                        </a:rPr>
                        <a:t>/5 </a:t>
                      </a:r>
                      <a:r>
                        <a:rPr lang="ru-RU" sz="1400" dirty="0" err="1">
                          <a:effectLst/>
                        </a:rPr>
                        <a:t>GHz</a:t>
                      </a:r>
                      <a:endParaRPr lang="ru-RU" sz="1400" dirty="0">
                        <a:effectLst/>
                      </a:endParaRP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206293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9BD3F698-D345-4F06-8CF9-D5A7E44D7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743320"/>
              </p:ext>
            </p:extLst>
          </p:nvPr>
        </p:nvGraphicFramePr>
        <p:xfrm>
          <a:off x="5317958" y="2115672"/>
          <a:ext cx="5426242" cy="3807354"/>
        </p:xfrm>
        <a:graphic>
          <a:graphicData uri="http://schemas.openxmlformats.org/drawingml/2006/table">
            <a:tbl>
              <a:tblPr/>
              <a:tblGrid>
                <a:gridCol w="2713121">
                  <a:extLst>
                    <a:ext uri="{9D8B030D-6E8A-4147-A177-3AD203B41FA5}">
                      <a16:colId xmlns:a16="http://schemas.microsoft.com/office/drawing/2014/main" val="1533018889"/>
                    </a:ext>
                  </a:extLst>
                </a:gridCol>
                <a:gridCol w="2713121">
                  <a:extLst>
                    <a:ext uri="{9D8B030D-6E8A-4147-A177-3AD203B41FA5}">
                      <a16:colId xmlns:a16="http://schemas.microsoft.com/office/drawing/2014/main" val="2387325324"/>
                    </a:ext>
                  </a:extLst>
                </a:gridCol>
              </a:tblGrid>
              <a:tr h="523254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Протоколы аутентификации 802.1</a:t>
                      </a:r>
                      <a:r>
                        <a:rPr lang="en-US" sz="1400" dirty="0">
                          <a:effectLst/>
                        </a:rPr>
                        <a:t>X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WPA-PSK (AES), RADIUS</a:t>
                      </a:r>
                    </a:p>
                  </a:txBody>
                  <a:tcPr marL="27553" marR="27553" marT="13776" marB="13776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156967"/>
                  </a:ext>
                </a:extLst>
              </a:tr>
              <a:tr h="553453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Габариты (В x Ш x Г)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Не LTE модели: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42 x 323 x 230 мм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37589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Вес с блоком питания AC PS (без модулей)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2.5 кг максимум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057530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Тип установки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Настольное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009921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Рабочая влажность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От 5 до 85% относительной влажности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40743"/>
                  </a:ext>
                </a:extLst>
              </a:tr>
              <a:tr h="554445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Рабочая Температура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от 0 до 40C на уровне моря,</a:t>
                      </a:r>
                      <a:br>
                        <a:rPr lang="ru-RU" sz="1400" dirty="0">
                          <a:effectLst/>
                        </a:rPr>
                      </a:br>
                      <a:r>
                        <a:rPr lang="ru-RU" sz="1400" dirty="0">
                          <a:effectLst/>
                        </a:rPr>
                        <a:t>от 0C до 25C при 10000 футах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213697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Рабочая высота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0-3050 м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588249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Нерабочая температура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от -40 до 70 C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71218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Нерабочая влажность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effectLst/>
                        </a:rPr>
                        <a:t>От 5 до 95% относительной влажности (без конденсации)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487"/>
                  </a:ext>
                </a:extLst>
              </a:tr>
              <a:tr h="268182">
                <a:tc>
                  <a:txBody>
                    <a:bodyPr/>
                    <a:lstStyle/>
                    <a:p>
                      <a:r>
                        <a:rPr lang="ru-RU" sz="1400" dirty="0" err="1">
                          <a:effectLst/>
                        </a:rPr>
                        <a:t>Неоперационная</a:t>
                      </a:r>
                      <a:r>
                        <a:rPr lang="ru-RU" sz="1400" dirty="0">
                          <a:effectLst/>
                        </a:rPr>
                        <a:t> высота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от 0 до 4570 м</a:t>
                      </a:r>
                    </a:p>
                  </a:txBody>
                  <a:tcPr marL="67045" marR="67045" marT="33523" marB="3352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836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955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4C4A9C-5776-43A1-995A-5452CCB9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79943-D431-4FA8-87CE-363AA4CB4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 http://celnet.ru/router.php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 https://cisco.su/c1117-4pwe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4"/>
              </a:rPr>
              <a:t> https://ru.wikipedia.org/wiki/</a:t>
            </a:r>
            <a:r>
              <a:rPr lang="ru-RU" dirty="0" err="1">
                <a:hlinkClick r:id="rId4"/>
              </a:rPr>
              <a:t>Таблица_маршрутизации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 https://zvondozvon.ru/tehnologii/kompyuternye-seti/marshrutizatsiya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6"/>
              </a:rPr>
              <a:t> https://hobbyits.com/naznachenie-i-funkcii-marshrutizatora-v-lokalnoj-seti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416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И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Другая 1">
      <a:majorFont>
        <a:latin typeface="Gabriola"/>
        <a:ea typeface=""/>
        <a:cs typeface=""/>
      </a:majorFont>
      <a:minorFont>
        <a:latin typeface="Gabriola"/>
        <a:ea typeface=""/>
        <a:cs typeface=""/>
      </a:minorFont>
    </a:fontScheme>
    <a:fmtScheme name="И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278</TotalTime>
  <Words>650</Words>
  <Application>Microsoft Office PowerPoint</Application>
  <PresentationFormat>Широкоэкранный</PresentationFormat>
  <Paragraphs>105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Calibri</vt:lpstr>
      <vt:lpstr>Gabriola</vt:lpstr>
      <vt:lpstr>Times New Roman</vt:lpstr>
      <vt:lpstr>Tw Cen MT</vt:lpstr>
      <vt:lpstr>Wingdings</vt:lpstr>
      <vt:lpstr>Wingdings 3</vt:lpstr>
      <vt:lpstr>Интеграл</vt:lpstr>
      <vt:lpstr>Маршрутизатор для локальных сетей</vt:lpstr>
      <vt:lpstr>Содержание</vt:lpstr>
      <vt:lpstr>Определение, назначение и функции</vt:lpstr>
      <vt:lpstr>Что внутри маршрутизатора?</vt:lpstr>
      <vt:lpstr>Таблица маршрутизации</vt:lpstr>
      <vt:lpstr>Принцип работы</vt:lpstr>
      <vt:lpstr>Локальная сеть с маршрутизатором</vt:lpstr>
      <vt:lpstr>Классы маршрутизаторов</vt:lpstr>
      <vt:lpstr>Характеристики маршрутизатора среднего класса «Cisco ISR 1100»</vt:lpstr>
      <vt:lpstr>Список использованных источников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Маршрутизатор для локальных сетей</dc:title>
  <dc:creator>Хасанов Ильназ Дамирович</dc:creator>
  <cp:lastModifiedBy>Ильназ Хасанов</cp:lastModifiedBy>
  <cp:revision>30</cp:revision>
  <dcterms:created xsi:type="dcterms:W3CDTF">2022-03-25T13:22:34Z</dcterms:created>
  <dcterms:modified xsi:type="dcterms:W3CDTF">2022-04-01T07:31:56Z</dcterms:modified>
</cp:coreProperties>
</file>